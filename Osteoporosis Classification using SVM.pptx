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62"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138878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43251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136587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1853750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C0D0B1-F744-4FCE-BB92-CA3D1E082FBF}" type="datetimeFigureOut">
              <a:rPr lang="en-IN" smtClean="0"/>
              <a:t>19-07-2024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783208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C0D0B1-F744-4FCE-BB92-CA3D1E082FBF}" type="datetimeFigureOut">
              <a:rPr lang="en-IN" smtClean="0"/>
              <a:t>19-07-2024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486749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C0D0B1-F744-4FCE-BB92-CA3D1E082FBF}" type="datetimeFigureOut">
              <a:rPr lang="en-IN" smtClean="0"/>
              <a:t>19-07-2024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3539011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146762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193992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601457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74D873C-EF6E-4D2A-9481-F3D4F919C80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5343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3394455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4D873C-EF6E-4D2A-9481-F3D4F919C80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625550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C0D0B1-F744-4FCE-BB92-CA3D1E082FBF}" type="datetimeFigureOut">
              <a:rPr lang="en-IN" smtClean="0"/>
              <a:t>19-07-2024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3987617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552667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C0D0B1-F744-4FCE-BB92-CA3D1E082FBF}" type="datetimeFigureOut">
              <a:rPr lang="en-IN" smtClean="0"/>
              <a:t>19-07-2024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74D873C-EF6E-4D2A-9481-F3D4F919C802}" type="slidenum">
              <a:rPr lang="en-IN" smtClean="0"/>
              <a:t>‹#›</a:t>
            </a:fld>
            <a:endParaRPr lang="en-IN"/>
          </a:p>
        </p:txBody>
      </p:sp>
    </p:spTree>
    <p:extLst>
      <p:ext uri="{BB962C8B-B14F-4D97-AF65-F5344CB8AC3E}">
        <p14:creationId xmlns:p14="http://schemas.microsoft.com/office/powerpoint/2010/main" val="2522224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FC0D0B1-F744-4FCE-BB92-CA3D1E082FBF}" type="datetimeFigureOut">
              <a:rPr lang="en-IN" smtClean="0"/>
              <a:t>19-07-2024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74D873C-EF6E-4D2A-9481-F3D4F919C802}" type="slidenum">
              <a:rPr lang="en-IN" smtClean="0"/>
              <a:t>‹#›</a:t>
            </a:fld>
            <a:endParaRPr lang="en-IN"/>
          </a:p>
        </p:txBody>
      </p:sp>
    </p:spTree>
    <p:extLst>
      <p:ext uri="{BB962C8B-B14F-4D97-AF65-F5344CB8AC3E}">
        <p14:creationId xmlns:p14="http://schemas.microsoft.com/office/powerpoint/2010/main" val="200640140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kaggle.com/datasets/amitvkulkarni/lifestyle-factors-influencing-osteoporosi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36D7-18A6-D3D7-52B5-0330E328261A}"/>
              </a:ext>
            </a:extLst>
          </p:cNvPr>
          <p:cNvSpPr>
            <a:spLocks noGrp="1"/>
          </p:cNvSpPr>
          <p:nvPr>
            <p:ph type="ctrTitle"/>
          </p:nvPr>
        </p:nvSpPr>
        <p:spPr/>
        <p:txBody>
          <a:bodyPr/>
          <a:lstStyle/>
          <a:p>
            <a:pPr algn="ctr"/>
            <a:r>
              <a:rPr lang="en-US" dirty="0">
                <a:latin typeface="Arial" panose="020B0604020202020204" pitchFamily="34" charset="0"/>
                <a:cs typeface="Arial" panose="020B0604020202020204" pitchFamily="34" charset="0"/>
              </a:rPr>
              <a:t>Osteoporosis Classification using SVM</a:t>
            </a:r>
            <a:endParaRPr lang="en-I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B7B949E9-6D12-D523-0386-74FE52AA8011}"/>
              </a:ext>
            </a:extLst>
          </p:cNvPr>
          <p:cNvSpPr>
            <a:spLocks noGrp="1"/>
          </p:cNvSpPr>
          <p:nvPr>
            <p:ph type="subTitle" idx="1"/>
          </p:nvPr>
        </p:nvSpPr>
        <p:spPr/>
        <p:txBody>
          <a:bodyPr/>
          <a:lstStyle/>
          <a:p>
            <a:r>
              <a:rPr lang="en-US" dirty="0">
                <a:solidFill>
                  <a:schemeClr val="tx1">
                    <a:lumMod val="95000"/>
                    <a:lumOff val="5000"/>
                  </a:schemeClr>
                </a:solidFill>
                <a:latin typeface="Arial Black" panose="020B0A04020102020204" pitchFamily="34" charset="0"/>
              </a:rPr>
              <a:t>AMUL ASHOK KADAM</a:t>
            </a:r>
          </a:p>
          <a:p>
            <a:r>
              <a:rPr lang="en-US" dirty="0">
                <a:solidFill>
                  <a:schemeClr val="tx1">
                    <a:lumMod val="95000"/>
                    <a:lumOff val="5000"/>
                  </a:schemeClr>
                </a:solidFill>
                <a:latin typeface="Arial Black" panose="020B0A04020102020204" pitchFamily="34" charset="0"/>
              </a:rPr>
              <a:t>DATE : 20th July 2024</a:t>
            </a:r>
          </a:p>
        </p:txBody>
      </p:sp>
      <p:pic>
        <p:nvPicPr>
          <p:cNvPr id="5" name="Picture 4">
            <a:extLst>
              <a:ext uri="{FF2B5EF4-FFF2-40B4-BE49-F238E27FC236}">
                <a16:creationId xmlns:a16="http://schemas.microsoft.com/office/drawing/2014/main" id="{B91B95FC-51E0-CC27-9508-89C35A14D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984630"/>
          </a:xfrm>
          <a:prstGeom prst="rect">
            <a:avLst/>
          </a:prstGeom>
        </p:spPr>
      </p:pic>
    </p:spTree>
    <p:extLst>
      <p:ext uri="{BB962C8B-B14F-4D97-AF65-F5344CB8AC3E}">
        <p14:creationId xmlns:p14="http://schemas.microsoft.com/office/powerpoint/2010/main" val="2867148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957C1-6C64-448F-E442-53A9F1B0893E}"/>
              </a:ext>
            </a:extLst>
          </p:cNvPr>
          <p:cNvSpPr>
            <a:spLocks noGrp="1"/>
          </p:cNvSpPr>
          <p:nvPr>
            <p:ph type="title"/>
          </p:nvPr>
        </p:nvSpPr>
        <p:spPr/>
        <p:txBody>
          <a:bodyPr/>
          <a:lstStyle/>
          <a:p>
            <a:r>
              <a:rPr lang="en-US" dirty="0"/>
              <a:t>Osteoporosis</a:t>
            </a:r>
            <a:endParaRPr lang="en-IN" dirty="0"/>
          </a:p>
        </p:txBody>
      </p:sp>
      <p:sp>
        <p:nvSpPr>
          <p:cNvPr id="4" name="Content Placeholder 3">
            <a:extLst>
              <a:ext uri="{FF2B5EF4-FFF2-40B4-BE49-F238E27FC236}">
                <a16:creationId xmlns:a16="http://schemas.microsoft.com/office/drawing/2014/main" id="{D7F61BCF-6180-6CBD-1223-E1A5444357BD}"/>
              </a:ext>
            </a:extLst>
          </p:cNvPr>
          <p:cNvSpPr>
            <a:spLocks noGrp="1"/>
          </p:cNvSpPr>
          <p:nvPr>
            <p:ph sz="half" idx="2"/>
          </p:nvPr>
        </p:nvSpPr>
        <p:spPr/>
        <p:txBody>
          <a:bodyPr/>
          <a:lstStyle/>
          <a:p>
            <a:r>
              <a:rPr lang="en-US" dirty="0">
                <a:latin typeface="Arial" panose="020B0604020202020204" pitchFamily="34" charset="0"/>
                <a:cs typeface="Arial" panose="020B0604020202020204" pitchFamily="34" charset="0"/>
              </a:rPr>
              <a:t>Osteo represents bones</a:t>
            </a:r>
          </a:p>
          <a:p>
            <a:r>
              <a:rPr lang="en-US" dirty="0">
                <a:latin typeface="Arial" panose="020B0604020202020204" pitchFamily="34" charset="0"/>
                <a:cs typeface="Arial" panose="020B0604020202020204" pitchFamily="34" charset="0"/>
              </a:rPr>
              <a:t>Porosis represents weakness</a:t>
            </a:r>
          </a:p>
          <a:p>
            <a:r>
              <a:rPr lang="en-US" b="0" i="0" dirty="0">
                <a:solidFill>
                  <a:srgbClr val="202124"/>
                </a:solidFill>
                <a:effectLst/>
                <a:highlight>
                  <a:srgbClr val="FFFFFF"/>
                </a:highlight>
                <a:latin typeface="Arial" panose="020B0604020202020204" pitchFamily="34" charset="0"/>
                <a:cs typeface="Arial" panose="020B0604020202020204" pitchFamily="34" charset="0"/>
              </a:rPr>
              <a:t>Osteoporosis is </a:t>
            </a:r>
            <a:r>
              <a:rPr lang="en-US" b="0" i="0" dirty="0">
                <a:solidFill>
                  <a:srgbClr val="040C28"/>
                </a:solidFill>
                <a:effectLst/>
                <a:latin typeface="Arial" panose="020B0604020202020204" pitchFamily="34" charset="0"/>
                <a:cs typeface="Arial" panose="020B0604020202020204" pitchFamily="34" charset="0"/>
              </a:rPr>
              <a:t>a bone disease that develops when </a:t>
            </a:r>
            <a:r>
              <a:rPr lang="en-US" b="0" i="0" dirty="0">
                <a:solidFill>
                  <a:srgbClr val="040C28"/>
                </a:solidFill>
                <a:effectLst/>
                <a:highlight>
                  <a:srgbClr val="FFFF00"/>
                </a:highlight>
                <a:latin typeface="Arial" panose="020B0604020202020204" pitchFamily="34" charset="0"/>
                <a:cs typeface="Arial" panose="020B0604020202020204" pitchFamily="34" charset="0"/>
              </a:rPr>
              <a:t>bone mineral density and bone mass decreases</a:t>
            </a:r>
            <a:r>
              <a:rPr lang="en-US" b="0" i="0" dirty="0">
                <a:solidFill>
                  <a:srgbClr val="040C28"/>
                </a:solidFill>
                <a:effectLst/>
                <a:latin typeface="Arial" panose="020B0604020202020204" pitchFamily="34" charset="0"/>
                <a:cs typeface="Arial" panose="020B0604020202020204" pitchFamily="34" charset="0"/>
              </a:rPr>
              <a:t>, or when the structure and strength of bone changes.</a:t>
            </a:r>
          </a:p>
          <a:p>
            <a:r>
              <a:rPr lang="en-US" dirty="0">
                <a:solidFill>
                  <a:srgbClr val="202124"/>
                </a:solidFill>
                <a:highlight>
                  <a:srgbClr val="FFFFFF"/>
                </a:highlight>
                <a:latin typeface="Arial" panose="020B0604020202020204" pitchFamily="34" charset="0"/>
                <a:cs typeface="Arial" panose="020B0604020202020204" pitchFamily="34" charset="0"/>
              </a:rPr>
              <a:t>Osteoporosis is fragility (</a:t>
            </a:r>
            <a:r>
              <a:rPr lang="en-US" b="0" i="0" dirty="0">
                <a:solidFill>
                  <a:srgbClr val="202124"/>
                </a:solidFill>
                <a:effectLst/>
                <a:highlight>
                  <a:srgbClr val="FFFFFF"/>
                </a:highlight>
                <a:latin typeface="Arial" panose="020B0604020202020204" pitchFamily="34" charset="0"/>
                <a:cs typeface="Arial" panose="020B0604020202020204" pitchFamily="34" charset="0"/>
              </a:rPr>
              <a:t>the quality of being easily broken or damaged)</a:t>
            </a:r>
            <a:r>
              <a:rPr lang="en-US" dirty="0">
                <a:solidFill>
                  <a:srgbClr val="202124"/>
                </a:solidFill>
                <a:highlight>
                  <a:srgbClr val="FFFFFF"/>
                </a:highlight>
                <a:latin typeface="Arial" panose="020B0604020202020204" pitchFamily="34" charset="0"/>
                <a:cs typeface="Arial" panose="020B0604020202020204" pitchFamily="34" charset="0"/>
              </a:rPr>
              <a:t> of bones.</a:t>
            </a:r>
            <a:endParaRPr lang="en-IN" dirty="0">
              <a:latin typeface="Arial" panose="020B0604020202020204" pitchFamily="34" charset="0"/>
              <a:cs typeface="Arial" panose="020B0604020202020204" pitchFamily="34" charset="0"/>
            </a:endParaRPr>
          </a:p>
          <a:p>
            <a:endParaRPr lang="en-IN" dirty="0"/>
          </a:p>
        </p:txBody>
      </p:sp>
      <p:pic>
        <p:nvPicPr>
          <p:cNvPr id="5" name="Content Placeholder 4">
            <a:extLst>
              <a:ext uri="{FF2B5EF4-FFF2-40B4-BE49-F238E27FC236}">
                <a16:creationId xmlns:a16="http://schemas.microsoft.com/office/drawing/2014/main" id="{09F00936-6623-0EA8-F575-3F2C6595BF5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91683" y="2126222"/>
            <a:ext cx="5810768" cy="3777622"/>
          </a:xfrm>
        </p:spPr>
      </p:pic>
    </p:spTree>
    <p:extLst>
      <p:ext uri="{BB962C8B-B14F-4D97-AF65-F5344CB8AC3E}">
        <p14:creationId xmlns:p14="http://schemas.microsoft.com/office/powerpoint/2010/main" val="2279756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FF44-CD6B-31D5-0CD3-B64B3A67E9A9}"/>
              </a:ext>
            </a:extLst>
          </p:cNvPr>
          <p:cNvSpPr>
            <a:spLocks noGrp="1"/>
          </p:cNvSpPr>
          <p:nvPr>
            <p:ph type="title"/>
          </p:nvPr>
        </p:nvSpPr>
        <p:spPr/>
        <p:txBody>
          <a:bodyPr/>
          <a:lstStyle/>
          <a:p>
            <a:r>
              <a:rPr lang="en-US" b="1" dirty="0"/>
              <a:t>Goal to make this project</a:t>
            </a:r>
            <a:endParaRPr lang="en-IN" b="1" dirty="0"/>
          </a:p>
        </p:txBody>
      </p:sp>
      <p:sp>
        <p:nvSpPr>
          <p:cNvPr id="3" name="Content Placeholder 2">
            <a:extLst>
              <a:ext uri="{FF2B5EF4-FFF2-40B4-BE49-F238E27FC236}">
                <a16:creationId xmlns:a16="http://schemas.microsoft.com/office/drawing/2014/main" id="{51FF34D4-FD37-6FA0-46EB-3F79B6D964CE}"/>
              </a:ext>
            </a:extLst>
          </p:cNvPr>
          <p:cNvSpPr>
            <a:spLocks noGrp="1"/>
          </p:cNvSpPr>
          <p:nvPr>
            <p:ph idx="1"/>
          </p:nvPr>
        </p:nvSpPr>
        <p:spPr/>
        <p:txBody>
          <a:bodyPr/>
          <a:lstStyle/>
          <a:p>
            <a:endParaRPr lang="en-IN" dirty="0"/>
          </a:p>
          <a:p>
            <a:endParaRPr lang="en-IN" dirty="0"/>
          </a:p>
        </p:txBody>
      </p:sp>
      <p:sp>
        <p:nvSpPr>
          <p:cNvPr id="4" name="Rectangle: Rounded Corners 3">
            <a:extLst>
              <a:ext uri="{FF2B5EF4-FFF2-40B4-BE49-F238E27FC236}">
                <a16:creationId xmlns:a16="http://schemas.microsoft.com/office/drawing/2014/main" id="{7FEA23CE-32E9-7059-CD9D-422DD64BD03A}"/>
              </a:ext>
            </a:extLst>
          </p:cNvPr>
          <p:cNvSpPr/>
          <p:nvPr/>
        </p:nvSpPr>
        <p:spPr>
          <a:xfrm>
            <a:off x="886408" y="1810139"/>
            <a:ext cx="10814180" cy="4767943"/>
          </a:xfrm>
          <a:prstGeom prst="roundRect">
            <a:avLst/>
          </a:prstGeom>
          <a:scene3d>
            <a:camera prst="orthographicFront"/>
            <a:lightRig rig="threePt" dir="t"/>
          </a:scene3d>
          <a:sp3d>
            <a:bevelT w="114300" prst="artDeco"/>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4784AA8-8359-724F-B916-ECEEE580BB95}"/>
              </a:ext>
            </a:extLst>
          </p:cNvPr>
          <p:cNvSpPr txBox="1"/>
          <p:nvPr/>
        </p:nvSpPr>
        <p:spPr>
          <a:xfrm>
            <a:off x="1539551" y="2385532"/>
            <a:ext cx="9498563" cy="3693319"/>
          </a:xfrm>
          <a:prstGeom prst="rect">
            <a:avLst/>
          </a:prstGeom>
          <a:noFill/>
        </p:spPr>
        <p:txBody>
          <a:bodyPr wrap="square" rtlCol="0">
            <a:spAutoFit/>
          </a:bodyPr>
          <a:lstStyle/>
          <a:p>
            <a:r>
              <a:rPr lang="en-US" b="1" u="sng" dirty="0"/>
              <a:t>Early Detection of Osteoporosis</a:t>
            </a:r>
          </a:p>
          <a:p>
            <a:pPr>
              <a:buFont typeface="Arial" panose="020B0604020202020204" pitchFamily="34" charset="0"/>
              <a:buChar char="•"/>
            </a:pPr>
            <a:r>
              <a:rPr lang="en-US" b="1" dirty="0"/>
              <a:t>Identify High-Risk Individuals</a:t>
            </a:r>
            <a:r>
              <a:rPr lang="en-US" dirty="0"/>
              <a:t>: Develop a model that can accurately predict individuals at high risk of developing osteoporosis, enabling early intervention and prevention strategies.</a:t>
            </a:r>
          </a:p>
          <a:p>
            <a:pPr>
              <a:buFont typeface="Arial" panose="020B0604020202020204" pitchFamily="34" charset="0"/>
              <a:buChar char="•"/>
            </a:pPr>
            <a:r>
              <a:rPr lang="en-US" b="1" dirty="0"/>
              <a:t>Prevent Fractures</a:t>
            </a:r>
            <a:r>
              <a:rPr lang="en-US" dirty="0"/>
              <a:t>: By predicting the likelihood of osteoporosis, the project aims to reduce the incidence of fractures, which are common and serious complications of the disease.</a:t>
            </a:r>
          </a:p>
          <a:p>
            <a:r>
              <a:rPr lang="en-US" b="1" u="sng" dirty="0"/>
              <a:t>Personalized Treatment Plans</a:t>
            </a:r>
          </a:p>
          <a:p>
            <a:pPr>
              <a:buFont typeface="Arial" panose="020B0604020202020204" pitchFamily="34" charset="0"/>
              <a:buChar char="•"/>
            </a:pPr>
            <a:r>
              <a:rPr lang="en-US" b="1" dirty="0"/>
              <a:t>Tailored Interventions</a:t>
            </a:r>
            <a:r>
              <a:rPr lang="en-US" dirty="0"/>
              <a:t>: Use predictive insights to develop personalized treatment plans based on an individual's risk factors and likelihood of developing osteoporosis.</a:t>
            </a:r>
          </a:p>
          <a:p>
            <a:pPr>
              <a:buFont typeface="Arial" panose="020B0604020202020204" pitchFamily="34" charset="0"/>
              <a:buChar char="•"/>
            </a:pPr>
            <a:r>
              <a:rPr lang="en-US" b="1" dirty="0"/>
              <a:t>Monitoring Progress</a:t>
            </a:r>
            <a:r>
              <a:rPr lang="en-US" dirty="0"/>
              <a:t>: Enable continuous monitoring of bone health, allowing for timely adjustments in treatment strategies.</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26648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ABC05-4A58-AD4E-70D1-BD2DE76C8775}"/>
              </a:ext>
            </a:extLst>
          </p:cNvPr>
          <p:cNvSpPr>
            <a:spLocks noGrp="1"/>
          </p:cNvSpPr>
          <p:nvPr>
            <p:ph type="title"/>
          </p:nvPr>
        </p:nvSpPr>
        <p:spPr/>
        <p:txBody>
          <a:bodyPr/>
          <a:lstStyle/>
          <a:p>
            <a:endParaRPr lang="en-IN" dirty="0"/>
          </a:p>
        </p:txBody>
      </p:sp>
      <p:pic>
        <p:nvPicPr>
          <p:cNvPr id="8" name="Content Placeholder 7">
            <a:extLst>
              <a:ext uri="{FF2B5EF4-FFF2-40B4-BE49-F238E27FC236}">
                <a16:creationId xmlns:a16="http://schemas.microsoft.com/office/drawing/2014/main" id="{D0B155A1-E3D5-0E66-93B0-5B81FAA662F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856706" y="2133600"/>
            <a:ext cx="3778250" cy="3778250"/>
          </a:xfrm>
        </p:spPr>
      </p:pic>
      <p:pic>
        <p:nvPicPr>
          <p:cNvPr id="6" name="Content Placeholder 5">
            <a:extLst>
              <a:ext uri="{FF2B5EF4-FFF2-40B4-BE49-F238E27FC236}">
                <a16:creationId xmlns:a16="http://schemas.microsoft.com/office/drawing/2014/main" id="{42D2615D-20EE-E58B-59C1-F157356AF8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0" y="0"/>
            <a:ext cx="6903076" cy="6858000"/>
          </a:xfrm>
        </p:spPr>
      </p:pic>
      <p:pic>
        <p:nvPicPr>
          <p:cNvPr id="10" name="Picture 9">
            <a:extLst>
              <a:ext uri="{FF2B5EF4-FFF2-40B4-BE49-F238E27FC236}">
                <a16:creationId xmlns:a16="http://schemas.microsoft.com/office/drawing/2014/main" id="{8B81056A-C9A3-1371-DD40-E50C69BA4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335" y="0"/>
            <a:ext cx="5338665" cy="6858000"/>
          </a:xfrm>
          <a:prstGeom prst="rect">
            <a:avLst/>
          </a:prstGeom>
        </p:spPr>
      </p:pic>
    </p:spTree>
    <p:extLst>
      <p:ext uri="{BB962C8B-B14F-4D97-AF65-F5344CB8AC3E}">
        <p14:creationId xmlns:p14="http://schemas.microsoft.com/office/powerpoint/2010/main" val="12808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626C2-EA2A-0815-F444-8F0D82359A5E}"/>
              </a:ext>
            </a:extLst>
          </p:cNvPr>
          <p:cNvSpPr>
            <a:spLocks noGrp="1"/>
          </p:cNvSpPr>
          <p:nvPr>
            <p:ph type="title"/>
          </p:nvPr>
        </p:nvSpPr>
        <p:spPr/>
        <p:txBody>
          <a:bodyPr/>
          <a:lstStyle/>
          <a:p>
            <a:r>
              <a:rPr lang="en-US" dirty="0"/>
              <a:t>Preventions</a:t>
            </a:r>
            <a:endParaRPr lang="en-IN" dirty="0"/>
          </a:p>
        </p:txBody>
      </p:sp>
      <p:sp>
        <p:nvSpPr>
          <p:cNvPr id="3" name="Content Placeholder 2">
            <a:extLst>
              <a:ext uri="{FF2B5EF4-FFF2-40B4-BE49-F238E27FC236}">
                <a16:creationId xmlns:a16="http://schemas.microsoft.com/office/drawing/2014/main" id="{03FF049C-EF1A-F965-E854-8BA4D951544E}"/>
              </a:ext>
            </a:extLst>
          </p:cNvPr>
          <p:cNvSpPr>
            <a:spLocks noGrp="1"/>
          </p:cNvSpPr>
          <p:nvPr>
            <p:ph idx="1"/>
          </p:nvPr>
        </p:nvSpPr>
        <p:spPr/>
        <p:txBody>
          <a:bodyPr/>
          <a:lstStyle/>
          <a:p>
            <a:r>
              <a:rPr lang="en-US" b="1" dirty="0"/>
              <a:t>Diet</a:t>
            </a:r>
            <a:r>
              <a:rPr lang="en-US" dirty="0"/>
              <a:t>: Ensure adequate intake of calcium and vitamin D.</a:t>
            </a:r>
          </a:p>
          <a:p>
            <a:r>
              <a:rPr lang="en-US" b="1" dirty="0"/>
              <a:t>Exercise</a:t>
            </a:r>
            <a:r>
              <a:rPr lang="en-US" dirty="0"/>
              <a:t>: Engage in regular weight-bearing and muscle-strengthening exercises.</a:t>
            </a:r>
          </a:p>
          <a:p>
            <a:r>
              <a:rPr lang="en-US" b="1" dirty="0"/>
              <a:t>Medical Check-Ups</a:t>
            </a:r>
            <a:r>
              <a:rPr lang="en-US" dirty="0"/>
              <a:t>: Regular bone density tests and discussions with healthcare providers about bone health.</a:t>
            </a:r>
          </a:p>
          <a:p>
            <a:r>
              <a:rPr lang="en-US" b="1" dirty="0"/>
              <a:t>Medications</a:t>
            </a:r>
            <a:r>
              <a:rPr lang="en-US" dirty="0"/>
              <a:t>: In some cases, medications may be prescribed to help strengthen bones and reduce the risk of fractures.</a:t>
            </a:r>
          </a:p>
          <a:p>
            <a:r>
              <a:rPr lang="en-US" b="1" dirty="0"/>
              <a:t>Do not Smoke </a:t>
            </a:r>
          </a:p>
          <a:p>
            <a:r>
              <a:rPr lang="en-US" b="1" dirty="0"/>
              <a:t>Do not consume alcohol</a:t>
            </a:r>
            <a:endParaRPr lang="en-IN" b="1" dirty="0"/>
          </a:p>
        </p:txBody>
      </p:sp>
    </p:spTree>
    <p:extLst>
      <p:ext uri="{BB962C8B-B14F-4D97-AF65-F5344CB8AC3E}">
        <p14:creationId xmlns:p14="http://schemas.microsoft.com/office/powerpoint/2010/main" val="2804101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A890-0578-2DE8-14CD-647B4814C146}"/>
              </a:ext>
            </a:extLst>
          </p:cNvPr>
          <p:cNvSpPr>
            <a:spLocks noGrp="1"/>
          </p:cNvSpPr>
          <p:nvPr>
            <p:ph type="title"/>
          </p:nvPr>
        </p:nvSpPr>
        <p:spPr/>
        <p:txBody>
          <a:bodyPr/>
          <a:lstStyle/>
          <a:p>
            <a:r>
              <a:rPr lang="en-US" dirty="0"/>
              <a:t>Why SVM?</a:t>
            </a:r>
            <a:endParaRPr lang="en-IN" dirty="0"/>
          </a:p>
        </p:txBody>
      </p:sp>
      <p:sp>
        <p:nvSpPr>
          <p:cNvPr id="7" name="Content Placeholder 6">
            <a:extLst>
              <a:ext uri="{FF2B5EF4-FFF2-40B4-BE49-F238E27FC236}">
                <a16:creationId xmlns:a16="http://schemas.microsoft.com/office/drawing/2014/main" id="{D66D9938-E4EB-D78C-BA23-04DC2C6DB90F}"/>
              </a:ext>
            </a:extLst>
          </p:cNvPr>
          <p:cNvSpPr>
            <a:spLocks noGrp="1"/>
          </p:cNvSpPr>
          <p:nvPr>
            <p:ph idx="1"/>
          </p:nvPr>
        </p:nvSpPr>
        <p:spPr/>
        <p:txBody>
          <a:bodyPr>
            <a:normAutofit/>
          </a:bodyPr>
          <a:lstStyle/>
          <a:p>
            <a:r>
              <a:rPr lang="en-US" sz="2000" b="1" dirty="0">
                <a:latin typeface="Arial" panose="020B0604020202020204" pitchFamily="34" charset="0"/>
                <a:cs typeface="Arial" panose="020B0604020202020204" pitchFamily="34" charset="0"/>
              </a:rPr>
              <a:t>Effective in High Dimensions:</a:t>
            </a:r>
            <a:r>
              <a:rPr lang="en-US" sz="2000" dirty="0">
                <a:latin typeface="Arial" panose="020B0604020202020204" pitchFamily="34" charset="0"/>
                <a:cs typeface="Arial" panose="020B0604020202020204" pitchFamily="34" charset="0"/>
              </a:rPr>
              <a:t> SVMs are particularly powerful in high-dimensional spaces and when the number of dimensions exceeds the number of samples.</a:t>
            </a:r>
          </a:p>
          <a:p>
            <a:r>
              <a:rPr lang="en-US" sz="2000" b="1" dirty="0">
                <a:latin typeface="Arial" panose="020B0604020202020204" pitchFamily="34" charset="0"/>
                <a:cs typeface="Arial" panose="020B0604020202020204" pitchFamily="34" charset="0"/>
              </a:rPr>
              <a:t>Robust to Overfitting:</a:t>
            </a:r>
            <a:r>
              <a:rPr lang="en-US" sz="2000" dirty="0">
                <a:latin typeface="Arial" panose="020B0604020202020204" pitchFamily="34" charset="0"/>
                <a:cs typeface="Arial" panose="020B0604020202020204" pitchFamily="34" charset="0"/>
              </a:rPr>
              <a:t> With the appropriate kernel and regularization, SVMs can effectively manage overfitting, especially in high-dimensional spaces.</a:t>
            </a:r>
          </a:p>
          <a:p>
            <a:r>
              <a:rPr lang="en-IN" sz="2000" b="1" dirty="0">
                <a:latin typeface="Arial" panose="020B0604020202020204" pitchFamily="34" charset="0"/>
                <a:cs typeface="Arial" panose="020B0604020202020204" pitchFamily="34" charset="0"/>
              </a:rPr>
              <a:t>Kernel Trick:</a:t>
            </a:r>
            <a:r>
              <a:rPr lang="en-IN" sz="2000" dirty="0">
                <a:latin typeface="Arial" panose="020B0604020202020204" pitchFamily="34" charset="0"/>
                <a:cs typeface="Arial" panose="020B0604020202020204" pitchFamily="34" charset="0"/>
              </a:rPr>
              <a:t> SVMs can model complex decision boundaries by using different kernel functions (e.g., linear, polynomial, radial basis function).</a:t>
            </a:r>
          </a:p>
        </p:txBody>
      </p:sp>
    </p:spTree>
    <p:extLst>
      <p:ext uri="{BB962C8B-B14F-4D97-AF65-F5344CB8AC3E}">
        <p14:creationId xmlns:p14="http://schemas.microsoft.com/office/powerpoint/2010/main" val="2631475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5979E-610B-8C3A-96D9-1B71E4823E48}"/>
              </a:ext>
            </a:extLst>
          </p:cNvPr>
          <p:cNvSpPr>
            <a:spLocks noGrp="1"/>
          </p:cNvSpPr>
          <p:nvPr>
            <p:ph type="title"/>
          </p:nvPr>
        </p:nvSpPr>
        <p:spPr/>
        <p:txBody>
          <a:bodyPr/>
          <a:lstStyle/>
          <a:p>
            <a:r>
              <a:rPr lang="en-US" dirty="0"/>
              <a:t>What is Support Vector Machine</a:t>
            </a:r>
            <a:endParaRPr lang="en-IN" dirty="0"/>
          </a:p>
        </p:txBody>
      </p:sp>
      <p:sp>
        <p:nvSpPr>
          <p:cNvPr id="3" name="Content Placeholder 2">
            <a:extLst>
              <a:ext uri="{FF2B5EF4-FFF2-40B4-BE49-F238E27FC236}">
                <a16:creationId xmlns:a16="http://schemas.microsoft.com/office/drawing/2014/main" id="{47439944-32BE-1A10-733D-BCFBFB261905}"/>
              </a:ext>
            </a:extLst>
          </p:cNvPr>
          <p:cNvSpPr>
            <a:spLocks noGrp="1"/>
          </p:cNvSpPr>
          <p:nvPr>
            <p:ph idx="1"/>
          </p:nvPr>
        </p:nvSpPr>
        <p:spPr/>
        <p:txBody>
          <a:bodyPr/>
          <a:lstStyle/>
          <a:p>
            <a:r>
              <a:rPr lang="en-US" b="0" i="0" dirty="0">
                <a:solidFill>
                  <a:srgbClr val="273239"/>
                </a:solidFill>
                <a:effectLst/>
                <a:highlight>
                  <a:srgbClr val="FFFFFF"/>
                </a:highlight>
                <a:latin typeface="Arial" panose="020B0604020202020204" pitchFamily="34" charset="0"/>
                <a:cs typeface="Arial" panose="020B0604020202020204" pitchFamily="34" charset="0"/>
              </a:rPr>
              <a:t>Support Vector Machine (SVM) is a powerful machine learning algorithm used for linear or nonlinear classification, regression, and even outlier detection tasks.</a:t>
            </a:r>
          </a:p>
          <a:p>
            <a:r>
              <a:rPr lang="en-US" dirty="0">
                <a:latin typeface="Arial" panose="020B0604020202020204" pitchFamily="34" charset="0"/>
                <a:cs typeface="Arial" panose="020B0604020202020204" pitchFamily="34" charset="0"/>
              </a:rPr>
              <a:t>The main goal of SVM is to find a hyperplane that best separates different classes in the feature space. For classification, this means finding a hyperplane that maximizes the margin between the classes.</a:t>
            </a:r>
          </a:p>
          <a:p>
            <a:r>
              <a:rPr lang="en-US" b="1" dirty="0">
                <a:latin typeface="Arial" panose="020B0604020202020204" pitchFamily="34" charset="0"/>
                <a:cs typeface="Arial" panose="020B0604020202020204" pitchFamily="34" charset="0"/>
              </a:rPr>
              <a:t>Hyperplane</a:t>
            </a:r>
            <a:r>
              <a:rPr lang="en-US" dirty="0">
                <a:latin typeface="Arial" panose="020B0604020202020204" pitchFamily="34" charset="0"/>
                <a:cs typeface="Arial" panose="020B0604020202020204" pitchFamily="34" charset="0"/>
              </a:rPr>
              <a:t>: In a 2D space, this is a line that divides the space into two regions. In higher dimensions, it becomes a plane or hyperplane.</a:t>
            </a:r>
          </a:p>
          <a:p>
            <a:r>
              <a:rPr lang="en-US" b="1" dirty="0">
                <a:latin typeface="Arial" panose="020B0604020202020204" pitchFamily="34" charset="0"/>
                <a:cs typeface="Arial" panose="020B0604020202020204" pitchFamily="34" charset="0"/>
              </a:rPr>
              <a:t>Margin</a:t>
            </a:r>
            <a:r>
              <a:rPr lang="en-US" dirty="0">
                <a:latin typeface="Arial" panose="020B0604020202020204" pitchFamily="34" charset="0"/>
                <a:cs typeface="Arial" panose="020B0604020202020204" pitchFamily="34" charset="0"/>
              </a:rPr>
              <a:t>: The distance between the hyperplane and the nearest data points from each class. SVM aims to maximize this margin to ensure better generalization.</a:t>
            </a:r>
          </a:p>
        </p:txBody>
      </p:sp>
    </p:spTree>
    <p:extLst>
      <p:ext uri="{BB962C8B-B14F-4D97-AF65-F5344CB8AC3E}">
        <p14:creationId xmlns:p14="http://schemas.microsoft.com/office/powerpoint/2010/main" val="2870405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3AEED-2B68-5F7E-C372-F66728622917}"/>
              </a:ext>
            </a:extLst>
          </p:cNvPr>
          <p:cNvSpPr>
            <a:spLocks noGrp="1"/>
          </p:cNvSpPr>
          <p:nvPr>
            <p:ph type="title"/>
          </p:nvPr>
        </p:nvSpPr>
        <p:spPr/>
        <p:txBody>
          <a:bodyPr/>
          <a:lstStyle/>
          <a:p>
            <a:r>
              <a:rPr lang="en-US" dirty="0"/>
              <a:t>Hyperparameters</a:t>
            </a:r>
            <a:endParaRPr lang="en-IN" dirty="0"/>
          </a:p>
        </p:txBody>
      </p:sp>
      <p:sp>
        <p:nvSpPr>
          <p:cNvPr id="3" name="Content Placeholder 2">
            <a:extLst>
              <a:ext uri="{FF2B5EF4-FFF2-40B4-BE49-F238E27FC236}">
                <a16:creationId xmlns:a16="http://schemas.microsoft.com/office/drawing/2014/main" id="{5E916629-9F8A-2675-0B42-7D39692405D0}"/>
              </a:ext>
            </a:extLst>
          </p:cNvPr>
          <p:cNvSpPr>
            <a:spLocks noGrp="1"/>
          </p:cNvSpPr>
          <p:nvPr>
            <p:ph idx="1"/>
          </p:nvPr>
        </p:nvSpPr>
        <p:spPr/>
        <p:txBody>
          <a:bodyPr/>
          <a:lstStyle/>
          <a:p>
            <a:pPr algn="l">
              <a:buFont typeface="Arial" panose="020B0604020202020204" pitchFamily="34" charset="0"/>
              <a:buChar char="•"/>
            </a:pPr>
            <a:r>
              <a:rPr lang="en-IN" b="1" i="0" dirty="0">
                <a:solidFill>
                  <a:srgbClr val="202124"/>
                </a:solidFill>
                <a:effectLst/>
                <a:highlight>
                  <a:srgbClr val="FFFFFF"/>
                </a:highlight>
                <a:latin typeface="Google Sans"/>
              </a:rPr>
              <a:t>C:</a:t>
            </a:r>
            <a:r>
              <a:rPr lang="en-IN" b="0" i="0" dirty="0">
                <a:solidFill>
                  <a:srgbClr val="202124"/>
                </a:solidFill>
                <a:effectLst/>
                <a:highlight>
                  <a:srgbClr val="FFFFFF"/>
                </a:highlight>
                <a:latin typeface="Google Sans"/>
              </a:rPr>
              <a:t> Regularization parameter, controlling the trade-off between maximizing the margin and minimizing classification error.</a:t>
            </a:r>
          </a:p>
          <a:p>
            <a:pPr algn="l">
              <a:buFont typeface="Arial" panose="020B0604020202020204" pitchFamily="34" charset="0"/>
              <a:buChar char="•"/>
            </a:pPr>
            <a:r>
              <a:rPr lang="en-IN" b="0" i="0" dirty="0">
                <a:solidFill>
                  <a:srgbClr val="202124"/>
                </a:solidFill>
                <a:effectLst/>
                <a:highlight>
                  <a:srgbClr val="FFFFFF"/>
                </a:highlight>
                <a:latin typeface="Google Sans"/>
              </a:rPr>
              <a:t>Small value of C means large margin.</a:t>
            </a:r>
          </a:p>
          <a:p>
            <a:pPr algn="l">
              <a:buFont typeface="Arial" panose="020B0604020202020204" pitchFamily="34" charset="0"/>
              <a:buChar char="•"/>
            </a:pPr>
            <a:r>
              <a:rPr lang="en-IN" dirty="0">
                <a:solidFill>
                  <a:srgbClr val="202124"/>
                </a:solidFill>
                <a:highlight>
                  <a:srgbClr val="FFFFFF"/>
                </a:highlight>
                <a:latin typeface="Google Sans"/>
              </a:rPr>
              <a:t>Large value of C means small margin.</a:t>
            </a:r>
            <a:endParaRPr lang="en-IN" b="0" i="0" dirty="0">
              <a:solidFill>
                <a:srgbClr val="202124"/>
              </a:solidFill>
              <a:effectLst/>
              <a:highlight>
                <a:srgbClr val="FFFFFF"/>
              </a:highlight>
              <a:latin typeface="Google Sans"/>
            </a:endParaRPr>
          </a:p>
          <a:p>
            <a:pPr algn="l">
              <a:buFont typeface="Arial" panose="020B0604020202020204" pitchFamily="34" charset="0"/>
              <a:buChar char="•"/>
            </a:pPr>
            <a:r>
              <a:rPr lang="en-IN" b="1" i="0" dirty="0">
                <a:solidFill>
                  <a:srgbClr val="202124"/>
                </a:solidFill>
                <a:effectLst/>
                <a:highlight>
                  <a:srgbClr val="FFFFFF"/>
                </a:highlight>
                <a:latin typeface="Google Sans"/>
              </a:rPr>
              <a:t>kernel:</a:t>
            </a:r>
            <a:r>
              <a:rPr lang="en-IN" b="0" i="0" dirty="0">
                <a:solidFill>
                  <a:srgbClr val="202124"/>
                </a:solidFill>
                <a:effectLst/>
                <a:highlight>
                  <a:srgbClr val="FFFFFF"/>
                </a:highlight>
                <a:latin typeface="Google Sans"/>
              </a:rPr>
              <a:t> Specifies the type of kernel function to use (e.g., 'linear,' '</a:t>
            </a:r>
            <a:r>
              <a:rPr lang="en-IN" b="0" i="0" dirty="0" err="1">
                <a:solidFill>
                  <a:srgbClr val="202124"/>
                </a:solidFill>
                <a:effectLst/>
                <a:highlight>
                  <a:srgbClr val="FFFFFF"/>
                </a:highlight>
                <a:latin typeface="Google Sans"/>
              </a:rPr>
              <a:t>rbf</a:t>
            </a:r>
            <a:r>
              <a:rPr lang="en-IN" b="0" i="0" dirty="0">
                <a:solidFill>
                  <a:srgbClr val="202124"/>
                </a:solidFill>
                <a:effectLst/>
                <a:highlight>
                  <a:srgbClr val="FFFFFF"/>
                </a:highlight>
                <a:latin typeface="Google Sans"/>
              </a:rPr>
              <a:t>,' 'poly').</a:t>
            </a:r>
          </a:p>
          <a:p>
            <a:pPr algn="l">
              <a:buFont typeface="Arial" panose="020B0604020202020204" pitchFamily="34" charset="0"/>
              <a:buChar char="•"/>
            </a:pPr>
            <a:r>
              <a:rPr lang="en-IN" b="1" i="0" dirty="0">
                <a:solidFill>
                  <a:srgbClr val="202124"/>
                </a:solidFill>
                <a:effectLst/>
                <a:highlight>
                  <a:srgbClr val="FFFFFF"/>
                </a:highlight>
                <a:latin typeface="Google Sans"/>
              </a:rPr>
              <a:t>gamma:</a:t>
            </a:r>
            <a:r>
              <a:rPr lang="en-IN" b="0" i="0" dirty="0">
                <a:solidFill>
                  <a:srgbClr val="202124"/>
                </a:solidFill>
                <a:effectLst/>
                <a:highlight>
                  <a:srgbClr val="FFFFFF"/>
                </a:highlight>
                <a:latin typeface="Google Sans"/>
              </a:rPr>
              <a:t> Kernel coefficient for '</a:t>
            </a:r>
            <a:r>
              <a:rPr lang="en-IN" b="0" i="0" dirty="0" err="1">
                <a:solidFill>
                  <a:srgbClr val="202124"/>
                </a:solidFill>
                <a:effectLst/>
                <a:highlight>
                  <a:srgbClr val="FFFFFF"/>
                </a:highlight>
                <a:latin typeface="Google Sans"/>
              </a:rPr>
              <a:t>rbf</a:t>
            </a:r>
            <a:r>
              <a:rPr lang="en-IN" b="0" i="0" dirty="0">
                <a:solidFill>
                  <a:srgbClr val="202124"/>
                </a:solidFill>
                <a:effectLst/>
                <a:highlight>
                  <a:srgbClr val="FFFFFF"/>
                </a:highlight>
                <a:latin typeface="Google Sans"/>
              </a:rPr>
              <a:t>' and 'poly' kernels.</a:t>
            </a:r>
          </a:p>
          <a:p>
            <a:pPr algn="l">
              <a:buFont typeface="Arial" panose="020B0604020202020204" pitchFamily="34" charset="0"/>
              <a:buChar char="•"/>
            </a:pPr>
            <a:r>
              <a:rPr lang="en-IN" dirty="0">
                <a:solidFill>
                  <a:srgbClr val="202124"/>
                </a:solidFill>
                <a:highlight>
                  <a:srgbClr val="FFFFFF"/>
                </a:highlight>
                <a:latin typeface="Google Sans"/>
              </a:rPr>
              <a:t>Small value of gamma means underfitting if the model is too simple to capture the underlying patterns.</a:t>
            </a:r>
          </a:p>
          <a:p>
            <a:pPr algn="l">
              <a:buFont typeface="Arial" panose="020B0604020202020204" pitchFamily="34" charset="0"/>
              <a:buChar char="•"/>
            </a:pPr>
            <a:r>
              <a:rPr lang="en-IN" b="0" i="0" dirty="0">
                <a:solidFill>
                  <a:srgbClr val="202124"/>
                </a:solidFill>
                <a:effectLst/>
                <a:highlight>
                  <a:srgbClr val="FFFFFF"/>
                </a:highlight>
                <a:latin typeface="Google Sans"/>
              </a:rPr>
              <a:t>Large value of gamma means overfitting.</a:t>
            </a:r>
          </a:p>
          <a:p>
            <a:endParaRPr lang="en-IN" dirty="0"/>
          </a:p>
        </p:txBody>
      </p:sp>
    </p:spTree>
    <p:extLst>
      <p:ext uri="{BB962C8B-B14F-4D97-AF65-F5344CB8AC3E}">
        <p14:creationId xmlns:p14="http://schemas.microsoft.com/office/powerpoint/2010/main" val="2847030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DEC53-EA5F-F98A-0B82-FF4A544139E8}"/>
              </a:ext>
            </a:extLst>
          </p:cNvPr>
          <p:cNvSpPr>
            <a:spLocks noGrp="1"/>
          </p:cNvSpPr>
          <p:nvPr>
            <p:ph type="title"/>
          </p:nvPr>
        </p:nvSpPr>
        <p:spPr/>
        <p:txBody>
          <a:bodyPr/>
          <a:lstStyle/>
          <a:p>
            <a:r>
              <a:rPr lang="en-US" dirty="0"/>
              <a:t>Data Collection</a:t>
            </a:r>
            <a:endParaRPr lang="en-IN" dirty="0"/>
          </a:p>
        </p:txBody>
      </p:sp>
      <p:sp>
        <p:nvSpPr>
          <p:cNvPr id="3" name="Content Placeholder 2">
            <a:extLst>
              <a:ext uri="{FF2B5EF4-FFF2-40B4-BE49-F238E27FC236}">
                <a16:creationId xmlns:a16="http://schemas.microsoft.com/office/drawing/2014/main" id="{DC1A23B1-0C5B-4E29-717B-4BB2B0B72CF4}"/>
              </a:ext>
            </a:extLst>
          </p:cNvPr>
          <p:cNvSpPr>
            <a:spLocks noGrp="1"/>
          </p:cNvSpPr>
          <p:nvPr>
            <p:ph idx="1"/>
          </p:nvPr>
        </p:nvSpPr>
        <p:spPr/>
        <p:txBody>
          <a:bodyPr/>
          <a:lstStyle/>
          <a:p>
            <a:r>
              <a:rPr lang="en-US" dirty="0"/>
              <a:t>Website : </a:t>
            </a:r>
            <a:r>
              <a:rPr lang="en-US" dirty="0">
                <a:hlinkClick r:id="rId2"/>
              </a:rPr>
              <a:t>https://www.kaggle.com/datasets/amitvkulkarni/lifestyle-factors-influencing-osteoporosis</a:t>
            </a:r>
            <a:r>
              <a:rPr lang="en-US" dirty="0"/>
              <a:t> </a:t>
            </a:r>
          </a:p>
        </p:txBody>
      </p:sp>
      <p:pic>
        <p:nvPicPr>
          <p:cNvPr id="7" name="Picture 6">
            <a:extLst>
              <a:ext uri="{FF2B5EF4-FFF2-40B4-BE49-F238E27FC236}">
                <a16:creationId xmlns:a16="http://schemas.microsoft.com/office/drawing/2014/main" id="{2E2ED452-66D0-BA78-C791-1F338B4471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659224"/>
            <a:ext cx="6096000" cy="4198776"/>
          </a:xfrm>
          <a:prstGeom prst="rect">
            <a:avLst/>
          </a:prstGeom>
        </p:spPr>
      </p:pic>
    </p:spTree>
    <p:extLst>
      <p:ext uri="{BB962C8B-B14F-4D97-AF65-F5344CB8AC3E}">
        <p14:creationId xmlns:p14="http://schemas.microsoft.com/office/powerpoint/2010/main" val="3417929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40C8C-4628-FF61-4BC4-096A72EB12A5}"/>
              </a:ext>
            </a:extLst>
          </p:cNvPr>
          <p:cNvSpPr>
            <a:spLocks noGrp="1"/>
          </p:cNvSpPr>
          <p:nvPr>
            <p:ph type="title"/>
          </p:nvPr>
        </p:nvSpPr>
        <p:spPr/>
        <p:txBody>
          <a:bodyPr/>
          <a:lstStyle/>
          <a:p>
            <a:r>
              <a:rPr lang="en-US" dirty="0"/>
              <a:t>Data Preprocessing</a:t>
            </a:r>
            <a:endParaRPr lang="en-IN" dirty="0"/>
          </a:p>
        </p:txBody>
      </p:sp>
      <p:pic>
        <p:nvPicPr>
          <p:cNvPr id="9" name="Content Placeholder 8">
            <a:extLst>
              <a:ext uri="{FF2B5EF4-FFF2-40B4-BE49-F238E27FC236}">
                <a16:creationId xmlns:a16="http://schemas.microsoft.com/office/drawing/2014/main" id="{A02479F4-0C18-ABAD-F00F-FBD91CCAAF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04999"/>
            <a:ext cx="2998071" cy="4952999"/>
          </a:xfrm>
        </p:spPr>
      </p:pic>
      <p:pic>
        <p:nvPicPr>
          <p:cNvPr id="13" name="Picture 12">
            <a:extLst>
              <a:ext uri="{FF2B5EF4-FFF2-40B4-BE49-F238E27FC236}">
                <a16:creationId xmlns:a16="http://schemas.microsoft.com/office/drawing/2014/main" id="{F8BADB2C-2F74-ADEA-B024-A0A1C4C0A4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8071" y="1905000"/>
            <a:ext cx="5847349" cy="4953000"/>
          </a:xfrm>
          <a:prstGeom prst="rect">
            <a:avLst/>
          </a:prstGeom>
        </p:spPr>
      </p:pic>
      <p:pic>
        <p:nvPicPr>
          <p:cNvPr id="15" name="Picture 14">
            <a:extLst>
              <a:ext uri="{FF2B5EF4-FFF2-40B4-BE49-F238E27FC236}">
                <a16:creationId xmlns:a16="http://schemas.microsoft.com/office/drawing/2014/main" id="{1C0C9DF6-7494-9853-4F7D-1B4ED60B2A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5420" y="1904998"/>
            <a:ext cx="3346580" cy="4953000"/>
          </a:xfrm>
          <a:prstGeom prst="rect">
            <a:avLst/>
          </a:prstGeom>
        </p:spPr>
      </p:pic>
    </p:spTree>
    <p:extLst>
      <p:ext uri="{BB962C8B-B14F-4D97-AF65-F5344CB8AC3E}">
        <p14:creationId xmlns:p14="http://schemas.microsoft.com/office/powerpoint/2010/main" val="2200280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72B1-C8E7-1CF4-7515-CF0662ADB8B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6FB56F-4B9F-A633-1C32-ED4E7B9591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23314"/>
          </a:xfrm>
        </p:spPr>
      </p:pic>
    </p:spTree>
    <p:extLst>
      <p:ext uri="{BB962C8B-B14F-4D97-AF65-F5344CB8AC3E}">
        <p14:creationId xmlns:p14="http://schemas.microsoft.com/office/powerpoint/2010/main" val="2483485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90774-3121-795C-5C03-FA08D2064D4B}"/>
              </a:ext>
            </a:extLst>
          </p:cNvPr>
          <p:cNvSpPr>
            <a:spLocks noGrp="1"/>
          </p:cNvSpPr>
          <p:nvPr>
            <p:ph type="title"/>
          </p:nvPr>
        </p:nvSpPr>
        <p:spPr/>
        <p:txBody>
          <a:bodyPr/>
          <a:lstStyle/>
          <a:p>
            <a:r>
              <a:rPr lang="en-US" dirty="0"/>
              <a:t>Model Development</a:t>
            </a:r>
            <a:endParaRPr lang="en-IN" dirty="0"/>
          </a:p>
        </p:txBody>
      </p:sp>
      <p:sp>
        <p:nvSpPr>
          <p:cNvPr id="3" name="Content Placeholder 2">
            <a:extLst>
              <a:ext uri="{FF2B5EF4-FFF2-40B4-BE49-F238E27FC236}">
                <a16:creationId xmlns:a16="http://schemas.microsoft.com/office/drawing/2014/main" id="{E921C96F-8598-5516-217B-6375F2964E12}"/>
              </a:ext>
            </a:extLst>
          </p:cNvPr>
          <p:cNvSpPr>
            <a:spLocks noGrp="1"/>
          </p:cNvSpPr>
          <p:nvPr>
            <p:ph idx="1"/>
          </p:nvPr>
        </p:nvSpPr>
        <p:spPr/>
        <p:txBody>
          <a:bodyPr/>
          <a:lstStyle/>
          <a:p>
            <a:r>
              <a:rPr lang="en-IN" dirty="0"/>
              <a:t>. </a:t>
            </a:r>
          </a:p>
        </p:txBody>
      </p:sp>
      <p:pic>
        <p:nvPicPr>
          <p:cNvPr id="7" name="Picture 6">
            <a:extLst>
              <a:ext uri="{FF2B5EF4-FFF2-40B4-BE49-F238E27FC236}">
                <a16:creationId xmlns:a16="http://schemas.microsoft.com/office/drawing/2014/main" id="{4C8F0F81-15E2-B165-68C2-15DA8039B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4930"/>
            <a:ext cx="12192000" cy="5513070"/>
          </a:xfrm>
          <a:prstGeom prst="rect">
            <a:avLst/>
          </a:prstGeom>
        </p:spPr>
      </p:pic>
    </p:spTree>
    <p:extLst>
      <p:ext uri="{BB962C8B-B14F-4D97-AF65-F5344CB8AC3E}">
        <p14:creationId xmlns:p14="http://schemas.microsoft.com/office/powerpoint/2010/main" val="3412221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9BAF-06A7-69E3-C78D-81C20AA40085}"/>
              </a:ext>
            </a:extLst>
          </p:cNvPr>
          <p:cNvSpPr>
            <a:spLocks noGrp="1"/>
          </p:cNvSpPr>
          <p:nvPr>
            <p:ph type="title"/>
          </p:nvPr>
        </p:nvSpPr>
        <p:spPr/>
        <p:txBody>
          <a:bodyPr/>
          <a:lstStyle/>
          <a:p>
            <a:r>
              <a:rPr lang="en-US" dirty="0"/>
              <a:t>Performance Measure and Evaluation Metrics</a:t>
            </a:r>
            <a:endParaRPr lang="en-IN" dirty="0"/>
          </a:p>
        </p:txBody>
      </p:sp>
      <p:sp>
        <p:nvSpPr>
          <p:cNvPr id="3" name="Content Placeholder 2">
            <a:extLst>
              <a:ext uri="{FF2B5EF4-FFF2-40B4-BE49-F238E27FC236}">
                <a16:creationId xmlns:a16="http://schemas.microsoft.com/office/drawing/2014/main" id="{80952623-F51E-2AA9-58A0-7CFF534F4AA4}"/>
              </a:ext>
            </a:extLst>
          </p:cNvPr>
          <p:cNvSpPr>
            <a:spLocks noGrp="1"/>
          </p:cNvSpPr>
          <p:nvPr>
            <p:ph idx="1"/>
          </p:nvPr>
        </p:nvSpPr>
        <p:spPr/>
        <p:txBody>
          <a:bodyPr/>
          <a:lstStyle/>
          <a:p>
            <a:r>
              <a:rPr lang="en-US" dirty="0"/>
              <a:t>Accuracy</a:t>
            </a:r>
          </a:p>
          <a:p>
            <a:r>
              <a:rPr lang="en-US" dirty="0"/>
              <a:t>Precision : The quality of positive prediction made by the model</a:t>
            </a:r>
          </a:p>
          <a:p>
            <a:r>
              <a:rPr lang="en-US" dirty="0"/>
              <a:t>Recall : The rate of true positive</a:t>
            </a:r>
          </a:p>
          <a:p>
            <a:r>
              <a:rPr lang="en-US" dirty="0"/>
              <a:t>F1 Score : Harmonic mean of precision and recall. </a:t>
            </a:r>
          </a:p>
          <a:p>
            <a:r>
              <a:rPr lang="en-US" dirty="0"/>
              <a:t>AUC-ROC : Graphical representation of the performance of a binary classification model at various classification threshold.</a:t>
            </a:r>
          </a:p>
          <a:p>
            <a:r>
              <a:rPr lang="en-US" dirty="0"/>
              <a:t>AUC-PRC : Represents success of prediction when the classes are very imbalanced.</a:t>
            </a:r>
          </a:p>
          <a:p>
            <a:r>
              <a:rPr lang="en-IN" dirty="0"/>
              <a:t> </a:t>
            </a:r>
          </a:p>
        </p:txBody>
      </p:sp>
    </p:spTree>
    <p:extLst>
      <p:ext uri="{BB962C8B-B14F-4D97-AF65-F5344CB8AC3E}">
        <p14:creationId xmlns:p14="http://schemas.microsoft.com/office/powerpoint/2010/main" val="2956789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E7015-5B1C-1AB5-DB6C-3D0C0968279D}"/>
              </a:ext>
            </a:extLst>
          </p:cNvPr>
          <p:cNvSpPr>
            <a:spLocks noGrp="1"/>
          </p:cNvSpPr>
          <p:nvPr>
            <p:ph type="title"/>
          </p:nvPr>
        </p:nvSpPr>
        <p:spPr/>
        <p:txBody>
          <a:bodyPr/>
          <a:lstStyle/>
          <a:p>
            <a:r>
              <a:rPr lang="en-US" b="1" dirty="0"/>
              <a:t>Mean CV Score and Standard Deviation of CV Scores</a:t>
            </a:r>
            <a:endParaRPr lang="en-IN" dirty="0"/>
          </a:p>
        </p:txBody>
      </p:sp>
      <p:sp>
        <p:nvSpPr>
          <p:cNvPr id="3" name="Content Placeholder 2">
            <a:extLst>
              <a:ext uri="{FF2B5EF4-FFF2-40B4-BE49-F238E27FC236}">
                <a16:creationId xmlns:a16="http://schemas.microsoft.com/office/drawing/2014/main" id="{32A240B6-C473-82E5-442F-D9FCEC410940}"/>
              </a:ext>
            </a:extLst>
          </p:cNvPr>
          <p:cNvSpPr>
            <a:spLocks noGrp="1"/>
          </p:cNvSpPr>
          <p:nvPr>
            <p:ph idx="1"/>
          </p:nvPr>
        </p:nvSpPr>
        <p:spPr/>
        <p:txBody>
          <a:bodyPr>
            <a:normAutofit fontScale="85000" lnSpcReduction="10000"/>
          </a:bodyPr>
          <a:lstStyle/>
          <a:p>
            <a:r>
              <a:rPr lang="en-US" b="1" dirty="0"/>
              <a:t>Mean CV Score (Before Tuning): 0.812</a:t>
            </a:r>
            <a:r>
              <a:rPr lang="en-US" dirty="0"/>
              <a:t>: This is the average performance of your model across the different folds of cross-validation. It suggests that, on average, your model has an accuracy of around 81.2% before any adjustments.</a:t>
            </a:r>
          </a:p>
          <a:p>
            <a:r>
              <a:rPr lang="en-US" b="1" dirty="0"/>
              <a:t>Mean CV Score (After Tuning): 0.876</a:t>
            </a:r>
            <a:r>
              <a:rPr lang="en-US" dirty="0"/>
              <a:t>: After tuning, the average performance of your model improved to approximately 87.6%. This suggests that your tuning process has positively impacted the model’s overall accuracy.</a:t>
            </a:r>
          </a:p>
          <a:p>
            <a:r>
              <a:rPr lang="en-US" b="1" dirty="0"/>
              <a:t>Standard Deviation of CV Scores (Before Tuning): 0.037</a:t>
            </a:r>
            <a:r>
              <a:rPr lang="en-US" dirty="0"/>
              <a:t>: This indicates the variability or spread of the cross-validation scores. A standard deviation of 0.037 means that the performance of your model across different folds typically varies by about 3.7% from the mean score. In general, a lower standard deviation implies that the model’s performance is more consistent across different folds, while a higher standard deviation indicates greater variability.</a:t>
            </a:r>
          </a:p>
          <a:p>
            <a:r>
              <a:rPr lang="en-US" b="1" dirty="0"/>
              <a:t>Standard Deviation of CV Scores (After Tuning): 0.030</a:t>
            </a:r>
            <a:r>
              <a:rPr lang="en-US" dirty="0"/>
              <a:t>: The standard deviation is slightly lower compared to before tuning, indicating that the performance of the model is even more consistent across different folds. The smaller standard deviation of 0.030 shows that the model’s performance variability has decreased, implying improved stability.</a:t>
            </a:r>
            <a:endParaRPr lang="en-IN" dirty="0"/>
          </a:p>
        </p:txBody>
      </p:sp>
    </p:spTree>
    <p:extLst>
      <p:ext uri="{BB962C8B-B14F-4D97-AF65-F5344CB8AC3E}">
        <p14:creationId xmlns:p14="http://schemas.microsoft.com/office/powerpoint/2010/main" val="1532060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4846A-C4D0-2DED-F5D5-EF256E875EA1}"/>
              </a:ext>
            </a:extLst>
          </p:cNvPr>
          <p:cNvSpPr>
            <a:spLocks noGrp="1"/>
          </p:cNvSpPr>
          <p:nvPr>
            <p:ph type="title"/>
          </p:nvPr>
        </p:nvSpPr>
        <p:spPr/>
        <p:txBody>
          <a:bodyPr/>
          <a:lstStyle/>
          <a:p>
            <a:r>
              <a:rPr lang="en-US" dirty="0"/>
              <a:t>Challenges and Limitations </a:t>
            </a:r>
            <a:endParaRPr lang="en-IN" dirty="0"/>
          </a:p>
        </p:txBody>
      </p:sp>
      <p:sp>
        <p:nvSpPr>
          <p:cNvPr id="3" name="Content Placeholder 2">
            <a:extLst>
              <a:ext uri="{FF2B5EF4-FFF2-40B4-BE49-F238E27FC236}">
                <a16:creationId xmlns:a16="http://schemas.microsoft.com/office/drawing/2014/main" id="{C513A8D4-9CB4-49C5-1E63-BA75C03DA3A5}"/>
              </a:ext>
            </a:extLst>
          </p:cNvPr>
          <p:cNvSpPr>
            <a:spLocks noGrp="1"/>
          </p:cNvSpPr>
          <p:nvPr>
            <p:ph idx="1"/>
          </p:nvPr>
        </p:nvSpPr>
        <p:spPr/>
        <p:txBody>
          <a:bodyPr/>
          <a:lstStyle/>
          <a:p>
            <a:r>
              <a:rPr lang="en-US" b="1" dirty="0"/>
              <a:t>Computational Complexity:</a:t>
            </a:r>
            <a:r>
              <a:rPr lang="en-US" dirty="0"/>
              <a:t> For large-scale datasets, SVM’s training time and memory requirements can be substantial. This necessitates the use of efficient implementations and possibly dimensionality reduction techniques to manage computational resources effectively.</a:t>
            </a:r>
          </a:p>
          <a:p>
            <a:r>
              <a:rPr lang="en-US" b="1" dirty="0"/>
              <a:t>Parameter Tuning:</a:t>
            </a:r>
            <a:r>
              <a:rPr lang="en-US" dirty="0"/>
              <a:t> Selecting the appropriate kernel and tuning hyperparameters (such as CCC and gamma) are essential for improving model performance. This process can be time-consuming and requires careful cross-validation to avoid overfitting.</a:t>
            </a:r>
            <a:endParaRPr lang="en-IN" dirty="0"/>
          </a:p>
        </p:txBody>
      </p:sp>
    </p:spTree>
    <p:extLst>
      <p:ext uri="{BB962C8B-B14F-4D97-AF65-F5344CB8AC3E}">
        <p14:creationId xmlns:p14="http://schemas.microsoft.com/office/powerpoint/2010/main" val="422836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370D-2E96-1D5F-EAB3-0FE2AC358202}"/>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4AF5B4AE-86D0-C950-CCE6-9D1ABCFDDDC9}"/>
              </a:ext>
            </a:extLst>
          </p:cNvPr>
          <p:cNvSpPr>
            <a:spLocks noGrp="1"/>
          </p:cNvSpPr>
          <p:nvPr>
            <p:ph idx="1"/>
          </p:nvPr>
        </p:nvSpPr>
        <p:spPr/>
        <p:txBody>
          <a:bodyPr/>
          <a:lstStyle/>
          <a:p>
            <a:r>
              <a:rPr lang="en-US" dirty="0"/>
              <a:t>SVM can be a robust tool for classifying osteoporosis, offering high accuracy and effective handling of high-dimensional data. However, its application requires careful consideration of computational resources, parameter tuning, and feature selection. Addressing these factors can lead to a successful implementation, enhancing diagnostic capabilities and contributing valuable insights to osteoporosis management.</a:t>
            </a:r>
            <a:endParaRPr lang="en-IN" dirty="0"/>
          </a:p>
        </p:txBody>
      </p:sp>
    </p:spTree>
    <p:extLst>
      <p:ext uri="{BB962C8B-B14F-4D97-AF65-F5344CB8AC3E}">
        <p14:creationId xmlns:p14="http://schemas.microsoft.com/office/powerpoint/2010/main" val="3360591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EA270-5931-AAE8-6CA2-1F0832E12755}"/>
              </a:ext>
            </a:extLst>
          </p:cNvPr>
          <p:cNvSpPr>
            <a:spLocks noGrp="1"/>
          </p:cNvSpPr>
          <p:nvPr>
            <p:ph type="title"/>
          </p:nvPr>
        </p:nvSpPr>
        <p:spPr/>
        <p:txBody>
          <a:bodyPr>
            <a:normAutofit/>
          </a:bodyPr>
          <a:lstStyle/>
          <a:p>
            <a:pPr algn="ctr"/>
            <a:r>
              <a:rPr lang="en-US" sz="5400" b="1" dirty="0"/>
              <a:t>Thank You</a:t>
            </a:r>
            <a:endParaRPr lang="en-IN" sz="5400" b="1" dirty="0"/>
          </a:p>
        </p:txBody>
      </p:sp>
      <p:sp>
        <p:nvSpPr>
          <p:cNvPr id="3" name="Text Placeholder 2">
            <a:extLst>
              <a:ext uri="{FF2B5EF4-FFF2-40B4-BE49-F238E27FC236}">
                <a16:creationId xmlns:a16="http://schemas.microsoft.com/office/drawing/2014/main" id="{44194CBA-A823-AEE8-B0C3-DA7D5F399F2C}"/>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72851998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625</TotalTime>
  <Words>975</Words>
  <Application>Microsoft Office PowerPoint</Application>
  <PresentationFormat>Widescreen</PresentationFormat>
  <Paragraphs>63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Century Gothic</vt:lpstr>
      <vt:lpstr>Google Sans</vt:lpstr>
      <vt:lpstr>Wingdings 3</vt:lpstr>
      <vt:lpstr>Wisp</vt:lpstr>
      <vt:lpstr>Osteoporosis Classification using SVM</vt:lpstr>
      <vt:lpstr>Osteoporosis</vt:lpstr>
      <vt:lpstr>Goal to make this project</vt:lpstr>
      <vt:lpstr>PowerPoint Presentation</vt:lpstr>
      <vt:lpstr>Preventions</vt:lpstr>
      <vt:lpstr>Why SVM?</vt:lpstr>
      <vt:lpstr>What is Support Vector Machine</vt:lpstr>
      <vt:lpstr>Hyperparameters</vt:lpstr>
      <vt:lpstr>Data Collection</vt:lpstr>
      <vt:lpstr>Data Preprocessing</vt:lpstr>
      <vt:lpstr>PowerPoint Presentation</vt:lpstr>
      <vt:lpstr>Model Development</vt:lpstr>
      <vt:lpstr>Performance Measure and Evaluation Metrics</vt:lpstr>
      <vt:lpstr>Mean CV Score and Standard Deviation of CV Scores</vt:lpstr>
      <vt:lpstr>Challenges and Limitations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Amul Kadam</dc:creator>
  <cp:lastModifiedBy>Amul Kadam</cp:lastModifiedBy>
  <cp:revision>17</cp:revision>
  <dcterms:created xsi:type="dcterms:W3CDTF">2024-07-03T05:46:25Z</dcterms:created>
  <dcterms:modified xsi:type="dcterms:W3CDTF">2024-07-19T17:38:43Z</dcterms:modified>
</cp:coreProperties>
</file>